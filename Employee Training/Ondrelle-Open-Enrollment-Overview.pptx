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B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-1920240" y="5852160"/>
            <a:ext cx="2103120" cy="21031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64008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7065" y="747065"/>
            <a:ext cx="608990" cy="60899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2331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ONDRELLE BENEFITS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21792" y="269748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 Open Enrollment</a:t>
            </a:r>
            <a:endParaRPr lang="en-US" sz="48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37947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BF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your options and make your elections for the new plan year.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640080" y="4572000"/>
            <a:ext cx="4206240" cy="777240"/>
          </a:xfrm>
          <a:prstGeom prst="roundRect">
            <a:avLst>
              <a:gd name="adj" fmla="val 10588"/>
            </a:avLst>
          </a:prstGeom>
          <a:solidFill>
            <a:srgbClr val="0F4B51"/>
          </a:solidFill>
          <a:ln/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822960" y="457200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November 1 – 15, 2026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FA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Ondrelle is a fictional company. For workshop use only.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14757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A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Open Enrollment?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5212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B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enrollment is the one time each year every employee can freely change medical, dental, and vision elections — no qualifying life event required. Outside this window, changes need a qualifying event like marriage or a birth.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3657600"/>
            <a:ext cx="5212080" cy="1737360"/>
          </a:xfrm>
          <a:prstGeom prst="roundRect">
            <a:avLst>
              <a:gd name="adj" fmla="val 4737"/>
            </a:avLst>
          </a:prstGeom>
          <a:solidFill>
            <a:srgbClr val="E9F6F4"/>
          </a:solidFill>
          <a:ln/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38404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do nothing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416052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B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current elections carry over into 2027 automatically — except FSA elections, which reset to zero and must be re-elected every year.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12280" y="1874520"/>
            <a:ext cx="356616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6400800" y="146304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7785" y="1570025"/>
            <a:ext cx="608990" cy="60899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126480" y="23774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1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5943600" y="26974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opens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183880" y="1463040"/>
            <a:ext cx="822960" cy="822960"/>
          </a:xfrm>
          <a:prstGeom prst="ellipse">
            <a:avLst/>
          </a:prstGeom>
          <a:solidFill>
            <a:srgbClr val="0B3B40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0865" y="1570025"/>
            <a:ext cx="608990" cy="60899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909560" y="23774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15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7726680" y="26974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closes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9966960" y="146304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3945" y="1570025"/>
            <a:ext cx="608990" cy="60899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9692640" y="23774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1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9509760" y="26974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starts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6400800" y="3566160"/>
            <a:ext cx="5212080" cy="1828800"/>
          </a:xfrm>
          <a:prstGeom prst="roundRect">
            <a:avLst>
              <a:gd name="adj" fmla="val 4500"/>
            </a:avLst>
          </a:prstGeom>
          <a:solidFill>
            <a:srgbClr val="E9F6F4"/>
          </a:solidFill>
          <a:ln/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sp>
        <p:nvSpPr>
          <p:cNvPr id="21" name="Text 16"/>
          <p:cNvSpPr txBox="1"/>
          <p:nvPr/>
        </p:nvSpPr>
        <p:spPr>
          <a:xfrm>
            <a:off x="6629400" y="37490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a change</a:t>
            </a:r>
            <a:endParaRPr lang="en-US" sz="1400" dirty="0"/>
          </a:p>
        </p:txBody>
      </p:sp>
      <p:sp>
        <p:nvSpPr>
          <p:cNvPr id="22" name="Text 17"/>
          <p:cNvSpPr txBox="1"/>
          <p:nvPr/>
        </p:nvSpPr>
        <p:spPr>
          <a:xfrm>
            <a:off x="6629400" y="406908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B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into the benefits portal, review each coverage type, and submit your elections before 11:59 p.m. on November 15. You'll get a confirmation email with your final choices.</a:t>
            </a:r>
            <a:endParaRPr lang="en-US" sz="1300" dirty="0"/>
          </a:p>
        </p:txBody>
      </p:sp>
      <p:sp>
        <p:nvSpPr>
          <p:cNvPr id="23" name="Text 1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Ondrelle Benefits · 2027 Open Enrollment</a:t>
            </a:r>
            <a:endParaRPr lang="en-US" sz="900" dirty="0"/>
          </a:p>
        </p:txBody>
      </p:sp>
      <p:sp>
        <p:nvSpPr>
          <p:cNvPr id="24" name="Text 19"/>
          <p:cNvSpPr txBox="1"/>
          <p:nvPr/>
        </p:nvSpPr>
        <p:spPr>
          <a:xfrm>
            <a:off x="114757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Changing This Year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updates worth a second look before you re-elect.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3290" y="1774850"/>
            <a:ext cx="473659" cy="47365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81328" y="1664208"/>
            <a:ext cx="10040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Wellness reimbursement is going up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481328" y="1965960"/>
            <a:ext cx="10040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monthly wellness reimbursement increases from $35 to $50, covering gym memberships, fitness classes, or an approved wellness app.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301752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290" y="3100730"/>
            <a:ext cx="473659" cy="473659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81328" y="2990088"/>
            <a:ext cx="10040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HSA gets a company contribution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1481328" y="3291840"/>
            <a:ext cx="10040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who enroll in the Bronze plan and open an HSA now receive a $500 annual company contribution toward employee-only coverage.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40080" y="434340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290" y="4426610"/>
            <a:ext cx="473659" cy="473659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481328" y="4315968"/>
            <a:ext cx="10040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lower-deductible Gold option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1481328" y="4617720"/>
            <a:ext cx="10040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Gold plan now includes a lower individual deductible, for employees who expect higher medical costs in 2027.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Ondrelle Benefits · 2027 Open Enrollment</a:t>
            </a:r>
            <a:endParaRPr lang="en-US" sz="900" dirty="0"/>
          </a:p>
        </p:txBody>
      </p:sp>
      <p:sp>
        <p:nvSpPr>
          <p:cNvPr id="17" name="Text 12"/>
          <p:cNvSpPr txBox="1"/>
          <p:nvPr/>
        </p:nvSpPr>
        <p:spPr>
          <a:xfrm>
            <a:off x="114757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Your Medical Plan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premiums and deductibles are in the Benefits Plan Comparison spreadsheet.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429000" cy="4297680"/>
          </a:xfrm>
          <a:prstGeom prst="roundRect">
            <a:avLst>
              <a:gd name="adj" fmla="val 2400"/>
            </a:avLst>
          </a:prstGeom>
          <a:solidFill>
            <a:srgbClr val="E9F6F4"/>
          </a:solidFill>
          <a:ln/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189280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A6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PREMIUM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167128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868680" y="2788920"/>
            <a:ext cx="2971800" cy="0"/>
          </a:xfrm>
          <a:prstGeom prst="line">
            <a:avLst/>
          </a:prstGeom>
          <a:noFill/>
          <a:ln w="12700">
            <a:solidFill>
              <a:srgbClr val="D8D8D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29260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A6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$95 / mo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42900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employee-only, per month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384048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$2,500 deductible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443484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light healthcare use, HSA savers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389120" y="1691640"/>
            <a:ext cx="3429000" cy="4297680"/>
          </a:xfrm>
          <a:prstGeom prst="roundRect">
            <a:avLst>
              <a:gd name="adj" fmla="val 2400"/>
            </a:avLst>
          </a:prstGeom>
          <a:solidFill>
            <a:srgbClr val="028090"/>
          </a:solidFill>
          <a:ln/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617720" y="189280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D8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FAVORITE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4617720" y="2167128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4617720" y="2788920"/>
            <a:ext cx="2971800" cy="0"/>
          </a:xfrm>
          <a:prstGeom prst="line">
            <a:avLst/>
          </a:prstGeom>
          <a:noFill/>
          <a:ln w="12700">
            <a:solidFill>
              <a:srgbClr val="5FBDB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617720" y="29260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$140 / mo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4617720" y="342900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D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employee-only, per month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4617720" y="384048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$1,200 deductible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617720" y="443484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3F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most employees and families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138160" y="1691640"/>
            <a:ext cx="3429000" cy="4297680"/>
          </a:xfrm>
          <a:prstGeom prst="roundRect">
            <a:avLst>
              <a:gd name="adj" fmla="val 2400"/>
            </a:avLst>
          </a:prstGeom>
          <a:solidFill>
            <a:srgbClr val="E9F6F4"/>
          </a:solidFill>
          <a:ln/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8366760" y="189280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DEDUCTIBLE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8366760" y="2167128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endParaRPr lang="en-US" sz="2600" dirty="0"/>
          </a:p>
        </p:txBody>
      </p:sp>
      <p:sp>
        <p:nvSpPr>
          <p:cNvPr id="23" name="Shape 21"/>
          <p:cNvSpPr/>
          <p:nvPr/>
        </p:nvSpPr>
        <p:spPr>
          <a:xfrm>
            <a:off x="8366760" y="2788920"/>
            <a:ext cx="2971800" cy="0"/>
          </a:xfrm>
          <a:prstGeom prst="line">
            <a:avLst/>
          </a:prstGeom>
          <a:noFill/>
          <a:ln w="12700">
            <a:solidFill>
              <a:srgbClr val="D8D8D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366760" y="29260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$210 / mo</a:t>
            </a:r>
            <a:endParaRPr lang="en-US" sz="2400" dirty="0"/>
          </a:p>
        </p:txBody>
      </p:sp>
      <p:sp>
        <p:nvSpPr>
          <p:cNvPr id="25" name="Text 23"/>
          <p:cNvSpPr txBox="1"/>
          <p:nvPr/>
        </p:nvSpPr>
        <p:spPr>
          <a:xfrm>
            <a:off x="8366760" y="342900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employee-only, per month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8366760" y="384048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$500 deductible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8366760" y="443484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frequent care, planned procedures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Ondrelle Benefits · 2027 Open Enrollment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4757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Retirement &amp; Income Protection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3290" y="1683410"/>
            <a:ext cx="473659" cy="473659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481328" y="1572768"/>
            <a:ext cx="10040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401(k) match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481328" y="1874520"/>
            <a:ext cx="10040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Ondrelle matches 100% of the first 4% of pay you contribute — and the match is yours immediately, with no vesting wait.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40080" y="297180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290" y="3055010"/>
            <a:ext cx="473659" cy="473659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481328" y="2944368"/>
            <a:ext cx="10040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life insurance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1481328" y="3246120"/>
            <a:ext cx="10040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Company-paid coverage equal to 1x your annual salary. Voluntary additional coverage is available for you and your dependents.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40080" y="434340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290" y="4426610"/>
            <a:ext cx="473659" cy="473659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481328" y="4315968"/>
            <a:ext cx="10040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Disability insurance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1481328" y="4617720"/>
            <a:ext cx="10040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 and long-term disability coverage, at no cost to you, replacing a portion of income if you can't work.</a:t>
            </a:r>
            <a:endParaRPr lang="en-US" sz="1300" dirty="0"/>
          </a:p>
        </p:txBody>
      </p:sp>
      <p:sp>
        <p:nvSpPr>
          <p:cNvPr id="15" name="Text 10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Ondrelle Benefits · 2027 Open Enrollment</a:t>
            </a:r>
            <a:endParaRPr lang="en-US" sz="900" dirty="0"/>
          </a:p>
        </p:txBody>
      </p:sp>
      <p:sp>
        <p:nvSpPr>
          <p:cNvPr id="16" name="Text 11"/>
          <p:cNvSpPr txBox="1"/>
          <p:nvPr/>
        </p:nvSpPr>
        <p:spPr>
          <a:xfrm>
            <a:off x="114757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Support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that comes with the job, no enrollment needed.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429000" cy="3291840"/>
          </a:xfrm>
          <a:prstGeom prst="roundRect">
            <a:avLst>
              <a:gd name="adj" fmla="val 2500"/>
            </a:avLst>
          </a:prstGeom>
          <a:solidFill>
            <a:srgbClr val="E9F6F4"/>
          </a:solidFill>
          <a:ln/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31520" cy="7315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9498" y="2335378"/>
            <a:ext cx="541325" cy="54132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14400" y="315468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B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Assistance Program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79476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free, confidential counseling sessions per year for you and everyone in your household.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89120" y="1920240"/>
            <a:ext cx="3429000" cy="3291840"/>
          </a:xfrm>
          <a:prstGeom prst="roundRect">
            <a:avLst>
              <a:gd name="adj" fmla="val 2500"/>
            </a:avLst>
          </a:prstGeom>
          <a:solidFill>
            <a:srgbClr val="E9F6F4"/>
          </a:solidFill>
          <a:ln/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63440" y="2240280"/>
            <a:ext cx="731520" cy="7315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8538" y="2335378"/>
            <a:ext cx="541325" cy="54132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63440" y="315468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B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Wellness reimbursement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4663440" y="379476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$50 a month back for a gym membership, a fitness class, or an approved wellness app.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138160" y="1920240"/>
            <a:ext cx="3429000" cy="3291840"/>
          </a:xfrm>
          <a:prstGeom prst="roundRect">
            <a:avLst>
              <a:gd name="adj" fmla="val 2500"/>
            </a:avLst>
          </a:prstGeom>
          <a:solidFill>
            <a:srgbClr val="E9F6F4"/>
          </a:solidFill>
          <a:ln/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12480" y="2240280"/>
            <a:ext cx="731520" cy="7315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7578" y="2335378"/>
            <a:ext cx="541325" cy="54132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412480" y="315468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B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FSA &amp; HSA options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8412480" y="379476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aside pre-tax dollars for healthcare or dependent care, available regardless of which medical plan you choose.</a:t>
            </a:r>
            <a:endParaRPr lang="en-US" sz="1250" dirty="0"/>
          </a:p>
        </p:txBody>
      </p:sp>
      <p:sp>
        <p:nvSpPr>
          <p:cNvPr id="19" name="Text 1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Ondrelle Benefits · 2027 Open Enrollment</a:t>
            </a:r>
            <a:endParaRPr lang="en-US" sz="900" dirty="0"/>
          </a:p>
        </p:txBody>
      </p:sp>
      <p:sp>
        <p:nvSpPr>
          <p:cNvPr id="20" name="Text 15"/>
          <p:cNvSpPr txBox="1"/>
          <p:nvPr/>
        </p:nvSpPr>
        <p:spPr>
          <a:xfrm>
            <a:off x="114757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Enroll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172968" y="2240280"/>
            <a:ext cx="237744" cy="0"/>
          </a:xfrm>
          <a:prstGeom prst="line">
            <a:avLst/>
          </a:prstGeom>
          <a:noFill/>
          <a:ln w="25400">
            <a:solidFill>
              <a:srgbClr val="BFE3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85900" y="182880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485900" y="18288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8892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154680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into the benefits portal with your Ondrelle credentials.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61888" y="2240280"/>
            <a:ext cx="237744" cy="0"/>
          </a:xfrm>
          <a:prstGeom prst="line">
            <a:avLst/>
          </a:prstGeom>
          <a:noFill/>
          <a:ln w="25400">
            <a:solidFill>
              <a:srgbClr val="BFE3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74820" y="182880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274820" y="18288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1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278892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429000" y="3154680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current elections for medical, dental, vision, and FSA.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750808" y="2240280"/>
            <a:ext cx="237744" cy="0"/>
          </a:xfrm>
          <a:prstGeom prst="line">
            <a:avLst/>
          </a:prstGeom>
          <a:noFill/>
          <a:ln w="25400">
            <a:solidFill>
              <a:srgbClr val="BFE3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063740" y="182880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063740" y="18288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100" dirty="0"/>
          </a:p>
        </p:txBody>
      </p:sp>
      <p:sp>
        <p:nvSpPr>
          <p:cNvPr id="16" name="Text 14"/>
          <p:cNvSpPr txBox="1"/>
          <p:nvPr/>
        </p:nvSpPr>
        <p:spPr>
          <a:xfrm>
            <a:off x="6217920" y="278892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0" y="3154680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your plans for 2027 and add or remove dependents.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852660" y="182880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852660" y="18288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100" dirty="0"/>
          </a:p>
        </p:txBody>
      </p:sp>
      <p:sp>
        <p:nvSpPr>
          <p:cNvPr id="20" name="Text 18"/>
          <p:cNvSpPr txBox="1"/>
          <p:nvPr/>
        </p:nvSpPr>
        <p:spPr>
          <a:xfrm>
            <a:off x="9006840" y="278892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9006840" y="3154680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your choices before Nov 15. You'll get an emailed summary.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" y="4937760"/>
            <a:ext cx="10881360" cy="1005840"/>
          </a:xfrm>
          <a:prstGeom prst="roundRect">
            <a:avLst>
              <a:gd name="adj" fmla="val 8182"/>
            </a:avLst>
          </a:prstGeom>
          <a:solidFill>
            <a:srgbClr val="E9F6F4"/>
          </a:solidFill>
          <a:ln/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914400" y="493776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B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help deciding? HR runs benefits drop-in sessions every weekday during enrollment — check the HR portal calendar for times.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Ondrelle Benefits · 2027 Open Enrollment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4757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3B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463040"/>
            <a:ext cx="4206240" cy="42062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5212080" y="1005840"/>
            <a:ext cx="1005840" cy="10058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2839" y="1136599"/>
            <a:ext cx="744322" cy="74432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22860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1089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F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out to the Ondrelle HR team any time before enrollment closes.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749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benefits@ondrelle-example.com  ·  Open enrollment closes November 15, 2026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FA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Ondrelle is a fictional company. For workshop use only.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14757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A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2026-09-23T14:01:34Z</dcterms:created>
  <dcterms:modified xsi:type="dcterms:W3CDTF">2026-09-23T14:01:34Z</dcterms:modified>
</cp:coreProperties>
</file>